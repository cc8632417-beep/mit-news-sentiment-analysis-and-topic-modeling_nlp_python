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1F3B5C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F3B5C"/>
                </a:solidFill>
                <a:latin typeface="Arial" panose="020B0604020202020204"/>
              </a:rPr>
              <a:t>Share of articles by framing</a:t>
            </a:r>
            <a:endParaRPr sz="1300" b="0" i="0" u="none" strike="noStrike">
              <a:solidFill>
                <a:srgbClr val="1F3B5C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2A9D62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Body</c:v>
                </c:pt>
                <c:pt idx="1">
                  <c:v>Header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0.506</c:v>
                </c:pt>
                <c:pt idx="1">
                  <c:v>0.471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Neutral/Cautious</c:v>
                </c:pt>
              </c:strCache>
            </c:strRef>
          </c:tx>
          <c:spPr>
            <a:solidFill>
              <a:srgbClr val="D6A436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Body</c:v>
                </c:pt>
                <c:pt idx="1">
                  <c:v>Header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0.29</c:v>
                </c:pt>
                <c:pt idx="1">
                  <c:v>0.395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Risk-oriented</c:v>
                </c:pt>
              </c:strCache>
            </c:strRef>
          </c:tx>
          <c:spPr>
            <a:solidFill>
              <a:srgbClr val="CC3B32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Body</c:v>
                </c:pt>
                <c:pt idx="1">
                  <c:v>Header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0.204</c:v>
                </c:pt>
                <c:pt idx="1">
                  <c:v>0.134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0%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e2de7b2-c14e-403a-ab4e-34ed9fed06c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1F3B5C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000" b="0" i="0" u="none" strike="noStrike">
                <a:solidFill>
                  <a:srgbClr val="1F3B5C"/>
                </a:solidFill>
                <a:latin typeface="Arial" panose="020B0604020202020204"/>
              </a:rPr>
              <a:t>Risk-oriented share of bodies by theme</a:t>
            </a:r>
            <a:endParaRPr sz="1000" b="0" i="0" u="none" strike="noStrike">
              <a:solidFill>
                <a:srgbClr val="1F3B5C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Risk-oriented %</c:v>
                </c:pt>
              </c:strCache>
            </c:strRef>
          </c:tx>
          <c:spPr>
            <a:solidFill>
              <a:srgbClr val="CC3B32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Health &amp; clinical</c:v>
                </c:pt>
                <c:pt idx="1">
                  <c:v>LLMs &amp; language</c:v>
                </c:pt>
                <c:pt idx="2">
                  <c:v>Education &amp; society</c:v>
                </c:pt>
                <c:pt idx="3">
                  <c:v>Vision &amp; image</c:v>
                </c:pt>
                <c:pt idx="4">
                  <c:v>Energy &amp; climate</c:v>
                </c:pt>
                <c:pt idx="5">
                  <c:v>Robotics</c:v>
                </c:pt>
                <c:pt idx="6">
                  <c:v>Materials &amp; chemistry</c:v>
                </c:pt>
                <c:pt idx="7">
                  <c:v>Biology &amp; proteins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61.3</c:v>
                </c:pt>
                <c:pt idx="1">
                  <c:v>23.8</c:v>
                </c:pt>
                <c:pt idx="2">
                  <c:v>20.7</c:v>
                </c:pt>
                <c:pt idx="3">
                  <c:v>17.4</c:v>
                </c:pt>
                <c:pt idx="4">
                  <c:v>14.8</c:v>
                </c:pt>
                <c:pt idx="5">
                  <c:v>9.1</c:v>
                </c:pt>
                <c:pt idx="6">
                  <c:v>7.1</c:v>
                </c:pt>
                <c:pt idx="7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1"/>
        <c:axPos val="t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d9b3da5-f507-459b-b9a7-200dc87bca73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3B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 News frames AI mainly as progress, with risk a substantial minority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Headline and body framing across 314 MIT News AI articles (Dec 2023 – Aug 2025)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60020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A9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article bodies are positive-framed (capability, progress)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160020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55448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C3B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28600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bodies are risk-oriented (bias, safety, privacy, governance)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06040" cy="1600200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55448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3B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54.5%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28600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articles have the same framing in headline and body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3B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  </a:t>
            </a: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 = title + summary; body = full text. Three dictionaries (positive, cautious, risk), each rate indexed to the corpus average. Positive or risk-oriented if the balance exceeds ±0.30; otherwise neutral/cautious.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3B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indexed  </a:t>
            </a: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 words outnumber risk words about 4 to 1, so raw counts would label almost everything positive.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3B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Headlines under-signal risk compared with article bodies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05840"/>
          <a:ext cx="44805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 (rows) × body (columns), articles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120640" y="1371600"/>
          <a:ext cx="3566160" cy="137160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640080"/>
                <a:gridCol w="548640"/>
                <a:gridCol w="64008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Pos.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Neutral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Risk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Positive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148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Neutral/Cautious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Risk-oriented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159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314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120640" y="2926080"/>
            <a:ext cx="35661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 of 42 risk-oriented headlines lead to risk-oriented bodies, but 31 of 64 risk-oriented bodies sit under a headline that does not signal risk.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 neutral headlines top positive bodies: headlines describe, bodies praise.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3434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share of bodies ranges 11–25% across cut-offs of ±0.2 to ±0.5; positive remains the largest header group throughout.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3B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framing has its own vocabulary, and risk concentrates in health</a:t>
            </a:r>
            <a:endParaRPr lang="en-US" sz="2200" dirty="0"/>
          </a:p>
        </p:txBody>
      </p:sp>
      <p:pic>
        <p:nvPicPr>
          <p:cNvPr id="3" name="Image 0" descr="fig2_wordclouds_body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2286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Contrast word clouds, article bodies (size = distinctiveness vs. the other two groups)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3429000"/>
          <a:ext cx="420624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754880" y="3520440"/>
            <a:ext cx="39319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Capability leads: positive vocabulary outweighs risk vocabulary about 4 to 1.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article in five is risk-oriented, mostly health, language-model and society topics.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Scanning headlines alone gives a rosier picture than reading the articles.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Caveat: dictionary method, not validated by hand; risk words include non-AI risks.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1684</Words>
  <Application>WPS 演示</Application>
  <PresentationFormat>On-screen Show (16:9)</PresentationFormat>
  <Paragraphs>85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Calibri</vt:lpstr>
      <vt:lpstr>Calibri</vt:lpstr>
      <vt:lpstr>Arial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ABCD</cp:lastModifiedBy>
  <cp:revision>2</cp:revision>
  <dcterms:created xsi:type="dcterms:W3CDTF">2026-10-02T10:56:00Z</dcterms:created>
  <dcterms:modified xsi:type="dcterms:W3CDTF">2026-10-06T01:45:09Z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2052-12.1.0.28599</vt:lpwstr>
  </property>
  <property fmtid="{D5CDD505-2E9C-101B-9397-08002B2CF9AE}" pid="3" name="ICV">
    <vt:lpwstr>01A1B30A079D41AAA999115D4A246E43_12</vt:lpwstr>
  </property>
</Properties>
</file>